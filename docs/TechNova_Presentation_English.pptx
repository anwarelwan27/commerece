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0" y="411480"/>
            <a:ext cx="3047695" cy="6446520"/>
          </a:xfrm>
          <a:prstGeom prst="rect">
            <a:avLst/>
          </a:prstGeom>
          <a:solidFill>
            <a:srgbClr val="0A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607040" cy="4480560"/>
          </a:xfrm>
          <a:prstGeom prst="roundRect">
            <a:avLst/>
          </a:prstGeom>
          <a:solidFill>
            <a:srgbClr val="0A1828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000" b="1">
                <a:solidFill>
                  <a:srgbClr val="F5FAFF"/>
                </a:solidFill>
                <a:latin typeface="Arial"/>
              </a:defRPr>
            </a:pPr>
            <a:r>
              <a:t>TechNova Store</a:t>
            </a:r>
          </a:p>
          <a:p>
            <a:pPr algn="ctr">
              <a:defRPr sz="2200">
                <a:solidFill>
                  <a:srgbClr val="22D3EE"/>
                </a:solidFill>
                <a:latin typeface="Arial"/>
              </a:defRPr>
            </a:pPr>
            <a:r>
              <a:t>Full-Stack E-Commerce Web Application</a:t>
            </a:r>
          </a:p>
          <a:p>
            <a:pPr algn="ctr">
              <a:defRPr sz="1800">
                <a:solidFill>
                  <a:srgbClr val="BECDDC"/>
                </a:solidFill>
                <a:latin typeface="Arial"/>
              </a:defRPr>
            </a:pPr>
            <a:r>
              <a:t>React.js</a:t>
            </a:r>
          </a:p>
          <a:p>
            <a:pPr algn="ctr">
              <a:defRPr sz="1800">
                <a:solidFill>
                  <a:srgbClr val="BECDDC"/>
                </a:solidFill>
                <a:latin typeface="Arial"/>
              </a:defRPr>
            </a:pPr>
            <a:r>
              <a:t>Express.js</a:t>
            </a:r>
          </a:p>
          <a:p>
            <a:pPr algn="ctr">
              <a:defRPr sz="1800">
                <a:solidFill>
                  <a:srgbClr val="BECDDC"/>
                </a:solidFill>
                <a:latin typeface="Arial"/>
              </a:defRPr>
            </a:pPr>
            <a:r>
              <a:t>MySQL</a:t>
            </a:r>
          </a:p>
          <a:p>
            <a:pPr algn="ctr">
              <a:defRPr sz="1800">
                <a:solidFill>
                  <a:srgbClr val="BECDDC"/>
                </a:solidFill>
                <a:latin typeface="Arial"/>
              </a:defRPr>
            </a:pPr>
            <a:r>
              <a:t>Final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35508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BECDDC"/>
                </a:solidFill>
                <a:latin typeface="Arial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0" y="411480"/>
            <a:ext cx="3047695" cy="6446520"/>
          </a:xfrm>
          <a:prstGeom prst="rect">
            <a:avLst/>
          </a:prstGeom>
          <a:solidFill>
            <a:srgbClr val="0A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5FAFF"/>
                </a:solidFill>
                <a:latin typeface="Arial"/>
              </a:defRPr>
            </a:pPr>
            <a:r>
              <a:t>Project Idea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9875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000">
                <a:solidFill>
                  <a:srgbClr val="BECDDC"/>
                </a:solidFill>
                <a:latin typeface="Arial"/>
              </a:defRPr>
            </a:pPr>
            <a:r>
              <a:t>- TechNova Store is a modern e-commerce website for electronic products.</a:t>
            </a:r>
          </a:p>
          <a:p>
            <a:pPr algn="l">
              <a:spcAft>
                <a:spcPts val="1000"/>
              </a:spcAft>
              <a:defRPr sz="2000">
                <a:solidFill>
                  <a:srgbClr val="BECDDC"/>
                </a:solidFill>
                <a:latin typeface="Arial"/>
              </a:defRPr>
            </a:pPr>
            <a:r>
              <a:t>- Main categories: Mobile Phones, Laptops, Headphones, Keyboards, and Mice.</a:t>
            </a:r>
          </a:p>
          <a:p>
            <a:pPr algn="l">
              <a:spcAft>
                <a:spcPts val="1000"/>
              </a:spcAft>
              <a:defRPr sz="2000">
                <a:solidFill>
                  <a:srgbClr val="BECDDC"/>
                </a:solidFill>
                <a:latin typeface="Arial"/>
              </a:defRPr>
            </a:pPr>
            <a:r>
              <a:t>- The goal was to build a clean, modern, and beginner-friendly full-stack project.</a:t>
            </a:r>
          </a:p>
          <a:p>
            <a:pPr algn="l">
              <a:spcAft>
                <a:spcPts val="1000"/>
              </a:spcAft>
              <a:defRPr sz="2000">
                <a:solidFill>
                  <a:srgbClr val="BECDDC"/>
                </a:solidFill>
                <a:latin typeface="Arial"/>
              </a:defRPr>
            </a:pPr>
            <a:r>
              <a:t>- The design is tech-focused and different from crowded marketplace layouts.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5508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BECDDC"/>
                </a:solidFill>
                <a:latin typeface="Arial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0" y="411480"/>
            <a:ext cx="3047695" cy="6446520"/>
          </a:xfrm>
          <a:prstGeom prst="rect">
            <a:avLst/>
          </a:prstGeom>
          <a:solidFill>
            <a:srgbClr val="0A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5FAFF"/>
                </a:solidFill>
                <a:latin typeface="Arial"/>
              </a:defRPr>
            </a:pPr>
            <a:r>
              <a:t>Technologies Used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3108960" cy="3474720"/>
          </a:xfrm>
          <a:prstGeom prst="roundRect">
            <a:avLst/>
          </a:prstGeom>
          <a:solidFill>
            <a:srgbClr val="0A1828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900" b="1">
                <a:solidFill>
                  <a:srgbClr val="22D3EE"/>
                </a:solidFill>
                <a:latin typeface="Arial"/>
              </a:defRPr>
            </a:pPr>
            <a:r>
              <a:t>Frontend</a:t>
            </a:r>
          </a:p>
          <a:p>
            <a:pPr algn="l">
              <a:defRPr sz="1600">
                <a:solidFill>
                  <a:srgbClr val="F5FAFF"/>
                </a:solidFill>
                <a:latin typeface="Arial"/>
              </a:defRPr>
            </a:pPr>
            <a:r>
              <a:t>React.js</a:t>
            </a:r>
            <a:br/>
            <a:r>
              <a:t>React Router</a:t>
            </a:r>
            <a:br/>
            <a:r>
              <a:t>Axios</a:t>
            </a:r>
            <a:br/>
            <a:r>
              <a:t>Tailwind CSS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51960" y="1737360"/>
            <a:ext cx="2834640" cy="3474720"/>
          </a:xfrm>
          <a:prstGeom prst="roundRect">
            <a:avLst/>
          </a:prstGeom>
          <a:solidFill>
            <a:srgbClr val="0A1828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900" b="1">
                <a:solidFill>
                  <a:srgbClr val="34D399"/>
                </a:solidFill>
                <a:latin typeface="Arial"/>
              </a:defRPr>
            </a:pPr>
            <a:r>
              <a:t>Backend</a:t>
            </a:r>
          </a:p>
          <a:p>
            <a:pPr algn="l">
              <a:defRPr sz="1600">
                <a:solidFill>
                  <a:srgbClr val="F5FAFF"/>
                </a:solidFill>
                <a:latin typeface="Arial"/>
              </a:defRPr>
            </a:pPr>
            <a:r>
              <a:t>Node.js</a:t>
            </a:r>
            <a:br/>
            <a:r>
              <a:t>Express.js</a:t>
            </a:r>
            <a:br/>
            <a:r>
              <a:t>JWT</a:t>
            </a:r>
            <a:br/>
            <a:r>
              <a:t>bcryptjs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60920" y="1737360"/>
            <a:ext cx="2880360" cy="3474720"/>
          </a:xfrm>
          <a:prstGeom prst="roundRect">
            <a:avLst/>
          </a:prstGeom>
          <a:solidFill>
            <a:srgbClr val="0A1828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900" b="1">
                <a:solidFill>
                  <a:srgbClr val="22D3EE"/>
                </a:solidFill>
                <a:latin typeface="Arial"/>
              </a:defRPr>
            </a:pPr>
            <a:r>
              <a:t>Database</a:t>
            </a:r>
          </a:p>
          <a:p>
            <a:pPr algn="l">
              <a:defRPr sz="1600">
                <a:solidFill>
                  <a:srgbClr val="F5FAFF"/>
                </a:solidFill>
                <a:latin typeface="Arial"/>
              </a:defRPr>
            </a:pPr>
            <a:r>
              <a:t>MySQL</a:t>
            </a:r>
            <a:br/>
            <a:r>
              <a:t>XAMPP</a:t>
            </a:r>
            <a:br/>
            <a:r>
              <a:t>phpMyAdmin</a:t>
            </a:r>
            <a:br/>
            <a:r>
              <a:t>Seed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35508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BECDDC"/>
                </a:solidFill>
                <a:latin typeface="Arial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0" y="411480"/>
            <a:ext cx="3047695" cy="6446520"/>
          </a:xfrm>
          <a:prstGeom prst="rect">
            <a:avLst/>
          </a:prstGeom>
          <a:solidFill>
            <a:srgbClr val="0A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5FAFF"/>
                </a:solidFill>
                <a:latin typeface="Arial"/>
              </a:defRPr>
            </a:pPr>
            <a:r>
              <a:t>Database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9875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000">
                <a:solidFill>
                  <a:srgbClr val="BECDDC"/>
                </a:solidFill>
                <a:latin typeface="Arial"/>
              </a:defRPr>
            </a:pPr>
            <a:r>
              <a:t>- users table stores name, email, and hashed password.</a:t>
            </a:r>
          </a:p>
          <a:p>
            <a:pPr algn="l">
              <a:spcAft>
                <a:spcPts val="1000"/>
              </a:spcAft>
              <a:defRPr sz="2000">
                <a:solidFill>
                  <a:srgbClr val="BECDDC"/>
                </a:solidFill>
                <a:latin typeface="Arial"/>
              </a:defRPr>
            </a:pPr>
            <a:r>
              <a:t>- products table stores title, price, image, category, rating, and description.</a:t>
            </a:r>
          </a:p>
          <a:p>
            <a:pPr algn="l">
              <a:spcAft>
                <a:spcPts val="1000"/>
              </a:spcAft>
              <a:defRPr sz="2000">
                <a:solidFill>
                  <a:srgbClr val="BECDDC"/>
                </a:solidFill>
                <a:latin typeface="Arial"/>
              </a:defRPr>
            </a:pPr>
            <a:r>
              <a:t>- cart table connects users with selected products and quantity.</a:t>
            </a:r>
          </a:p>
          <a:p>
            <a:pPr algn="l">
              <a:spcAft>
                <a:spcPts val="1000"/>
              </a:spcAft>
              <a:defRPr sz="2000">
                <a:solidFill>
                  <a:srgbClr val="BECDDC"/>
                </a:solidFill>
                <a:latin typeface="Arial"/>
              </a:defRPr>
            </a:pPr>
            <a:r>
              <a:t>- orders table stores completed orders after checkout.</a:t>
            </a:r>
          </a:p>
          <a:p>
            <a:pPr algn="l">
              <a:spcAft>
                <a:spcPts val="1000"/>
              </a:spcAft>
              <a:defRPr sz="2000">
                <a:solidFill>
                  <a:srgbClr val="BECDDC"/>
                </a:solidFill>
                <a:latin typeface="Arial"/>
              </a:defRPr>
            </a:pPr>
            <a:r>
              <a:t>- The SQL file also includes sample products and a demo user account.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5508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BECDDC"/>
                </a:solidFill>
                <a:latin typeface="Arial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0" y="411480"/>
            <a:ext cx="3047695" cy="6446520"/>
          </a:xfrm>
          <a:prstGeom prst="rect">
            <a:avLst/>
          </a:prstGeom>
          <a:solidFill>
            <a:srgbClr val="0A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5FAFF"/>
                </a:solidFill>
                <a:latin typeface="Arial"/>
              </a:defRPr>
            </a:pPr>
            <a:r>
              <a:t>Backend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9875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000">
                <a:solidFill>
                  <a:srgbClr val="BECDDC"/>
                </a:solidFill>
                <a:latin typeface="Arial"/>
              </a:defRPr>
            </a:pPr>
            <a:r>
              <a:t>- Authentication: register and login endpoints.</a:t>
            </a:r>
          </a:p>
          <a:p>
            <a:pPr algn="l">
              <a:spcAft>
                <a:spcPts val="1000"/>
              </a:spcAft>
              <a:defRPr sz="2000">
                <a:solidFill>
                  <a:srgbClr val="BECDDC"/>
                </a:solidFill>
                <a:latin typeface="Arial"/>
              </a:defRPr>
            </a:pPr>
            <a:r>
              <a:t>- Products: get all products, get one product, and top-rated products.</a:t>
            </a:r>
          </a:p>
          <a:p>
            <a:pPr algn="l">
              <a:spcAft>
                <a:spcPts val="1000"/>
              </a:spcAft>
              <a:defRPr sz="2000">
                <a:solidFill>
                  <a:srgbClr val="BECDDC"/>
                </a:solidFill>
                <a:latin typeface="Arial"/>
              </a:defRPr>
            </a:pPr>
            <a:r>
              <a:t>- Filtering is supported with search, category, minPrice, and maxPrice.</a:t>
            </a:r>
          </a:p>
          <a:p>
            <a:pPr algn="l">
              <a:spcAft>
                <a:spcPts val="1000"/>
              </a:spcAft>
              <a:defRPr sz="2000">
                <a:solidFill>
                  <a:srgbClr val="BECDDC"/>
                </a:solidFill>
                <a:latin typeface="Arial"/>
              </a:defRPr>
            </a:pPr>
            <a:r>
              <a:t>- Cart: add item, get cart, update quantity, and remove item.</a:t>
            </a:r>
          </a:p>
          <a:p>
            <a:pPr algn="l">
              <a:spcAft>
                <a:spcPts val="1000"/>
              </a:spcAft>
              <a:defRPr sz="2000">
                <a:solidFill>
                  <a:srgbClr val="BECDDC"/>
                </a:solidFill>
                <a:latin typeface="Arial"/>
              </a:defRPr>
            </a:pPr>
            <a:r>
              <a:t>- Orders: checkout endpoint creates a new order and clears the cart.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5508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BECDDC"/>
                </a:solidFill>
                <a:latin typeface="Arial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0" y="411480"/>
            <a:ext cx="3047695" cy="6446520"/>
          </a:xfrm>
          <a:prstGeom prst="rect">
            <a:avLst/>
          </a:prstGeom>
          <a:solidFill>
            <a:srgbClr val="0A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5FAFF"/>
                </a:solidFill>
                <a:latin typeface="Arial"/>
              </a:defRPr>
            </a:pPr>
            <a:r>
              <a:t>Frontend Pages and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9875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000">
                <a:solidFill>
                  <a:srgbClr val="BECDDC"/>
                </a:solidFill>
                <a:latin typeface="Arial"/>
              </a:defRPr>
            </a:pPr>
            <a:r>
              <a:t>- Pages: Home, Products, Product Details, Cart, Checkout, Login, and Register.</a:t>
            </a:r>
          </a:p>
          <a:p>
            <a:pPr algn="l">
              <a:spcAft>
                <a:spcPts val="1000"/>
              </a:spcAft>
              <a:defRPr sz="2000">
                <a:solidFill>
                  <a:srgbClr val="BECDDC"/>
                </a:solidFill>
                <a:latin typeface="Arial"/>
              </a:defRPr>
            </a:pPr>
            <a:r>
              <a:t>- Real-time search for faster product discovery.</a:t>
            </a:r>
          </a:p>
          <a:p>
            <a:pPr algn="l">
              <a:spcAft>
                <a:spcPts val="1000"/>
              </a:spcAft>
              <a:defRPr sz="2000">
                <a:solidFill>
                  <a:srgbClr val="BECDDC"/>
                </a:solidFill>
                <a:latin typeface="Arial"/>
              </a:defRPr>
            </a:pPr>
            <a:r>
              <a:t>- Filter by category and price range.</a:t>
            </a:r>
          </a:p>
          <a:p>
            <a:pPr algn="l">
              <a:spcAft>
                <a:spcPts val="1000"/>
              </a:spcAft>
              <a:defRPr sz="2000">
                <a:solidFill>
                  <a:srgbClr val="BECDDC"/>
                </a:solidFill>
                <a:latin typeface="Arial"/>
              </a:defRPr>
            </a:pPr>
            <a:r>
              <a:t>- Top-rated products section on the homepage.</a:t>
            </a:r>
          </a:p>
          <a:p>
            <a:pPr algn="l">
              <a:spcAft>
                <a:spcPts val="1000"/>
              </a:spcAft>
              <a:defRPr sz="2000">
                <a:solidFill>
                  <a:srgbClr val="BECDDC"/>
                </a:solidFill>
                <a:latin typeface="Arial"/>
              </a:defRPr>
            </a:pPr>
            <a:r>
              <a:t>- Dark mode, toast notifications, and loading states.</a:t>
            </a:r>
          </a:p>
          <a:p>
            <a:pPr algn="l">
              <a:spcAft>
                <a:spcPts val="1000"/>
              </a:spcAft>
              <a:defRPr sz="2000">
                <a:solidFill>
                  <a:srgbClr val="BECDDC"/>
                </a:solidFill>
                <a:latin typeface="Arial"/>
              </a:defRPr>
            </a:pPr>
            <a:r>
              <a:t>- Fully responsive design for mobile, tablet, and desktop.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5508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BECDDC"/>
                </a:solidFill>
                <a:latin typeface="Arial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0" y="411480"/>
            <a:ext cx="3047695" cy="6446520"/>
          </a:xfrm>
          <a:prstGeom prst="rect">
            <a:avLst/>
          </a:prstGeom>
          <a:solidFill>
            <a:srgbClr val="0A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5FAFF"/>
                </a:solidFill>
                <a:latin typeface="Arial"/>
              </a:defRPr>
            </a:pPr>
            <a:r>
              <a:t>User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9875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000">
                <a:solidFill>
                  <a:srgbClr val="BECDDC"/>
                </a:solidFill>
                <a:latin typeface="Arial"/>
              </a:defRPr>
            </a:pPr>
            <a:r>
              <a:t>- The user registers or logs in.</a:t>
            </a:r>
          </a:p>
          <a:p>
            <a:pPr algn="l">
              <a:spcAft>
                <a:spcPts val="1000"/>
              </a:spcAft>
              <a:defRPr sz="2000">
                <a:solidFill>
                  <a:srgbClr val="BECDDC"/>
                </a:solidFill>
                <a:latin typeface="Arial"/>
              </a:defRPr>
            </a:pPr>
            <a:r>
              <a:t>- The user browses the products catalog.</a:t>
            </a:r>
          </a:p>
          <a:p>
            <a:pPr algn="l">
              <a:spcAft>
                <a:spcPts val="1000"/>
              </a:spcAft>
              <a:defRPr sz="2000">
                <a:solidFill>
                  <a:srgbClr val="BECDDC"/>
                </a:solidFill>
                <a:latin typeface="Arial"/>
              </a:defRPr>
            </a:pPr>
            <a:r>
              <a:t>- The user searches and filters products.</a:t>
            </a:r>
          </a:p>
          <a:p>
            <a:pPr algn="l">
              <a:spcAft>
                <a:spcPts val="1000"/>
              </a:spcAft>
              <a:defRPr sz="2000">
                <a:solidFill>
                  <a:srgbClr val="BECDDC"/>
                </a:solidFill>
                <a:latin typeface="Arial"/>
              </a:defRPr>
            </a:pPr>
            <a:r>
              <a:t>- The user opens a product details page and chooses quantity.</a:t>
            </a:r>
          </a:p>
          <a:p>
            <a:pPr algn="l">
              <a:spcAft>
                <a:spcPts val="1000"/>
              </a:spcAft>
              <a:defRPr sz="2000">
                <a:solidFill>
                  <a:srgbClr val="BECDDC"/>
                </a:solidFill>
                <a:latin typeface="Arial"/>
              </a:defRPr>
            </a:pPr>
            <a:r>
              <a:t>- The user adds products to the cart and updates quantities.</a:t>
            </a:r>
          </a:p>
          <a:p>
            <a:pPr algn="l">
              <a:spcAft>
                <a:spcPts val="1000"/>
              </a:spcAft>
              <a:defRPr sz="2000">
                <a:solidFill>
                  <a:srgbClr val="BECDDC"/>
                </a:solidFill>
                <a:latin typeface="Arial"/>
              </a:defRPr>
            </a:pPr>
            <a:r>
              <a:t>- The user checks out and a new order is created in the database.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5508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BECDDC"/>
                </a:solidFill>
                <a:latin typeface="Arial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0" y="411480"/>
            <a:ext cx="3047695" cy="6446520"/>
          </a:xfrm>
          <a:prstGeom prst="rect">
            <a:avLst/>
          </a:prstGeom>
          <a:solidFill>
            <a:srgbClr val="0A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5FAFF"/>
                </a:solidFill>
                <a:latin typeface="Arial"/>
              </a:defRPr>
            </a:pPr>
            <a:r>
              <a:t>Easy Code Explanation: ProtectedRoute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508760"/>
            <a:ext cx="9875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800">
                <a:solidFill>
                  <a:srgbClr val="BECDDC"/>
                </a:solidFill>
                <a:latin typeface="Arial"/>
              </a:defRPr>
            </a:pPr>
            <a:r>
              <a:t>- ProtectedRoute is the easiest part to explain.</a:t>
            </a:r>
          </a:p>
          <a:p>
            <a:pPr algn="l">
              <a:spcAft>
                <a:spcPts val="1000"/>
              </a:spcAft>
              <a:defRPr sz="1800">
                <a:solidFill>
                  <a:srgbClr val="BECDDC"/>
                </a:solidFill>
                <a:latin typeface="Arial"/>
              </a:defRPr>
            </a:pPr>
            <a:r>
              <a:t>- It checks if the user is logged in before opening protected pages.</a:t>
            </a:r>
          </a:p>
          <a:p>
            <a:pPr algn="l">
              <a:spcAft>
                <a:spcPts val="1000"/>
              </a:spcAft>
              <a:defRPr sz="1800">
                <a:solidFill>
                  <a:srgbClr val="BECDDC"/>
                </a:solidFill>
                <a:latin typeface="Arial"/>
              </a:defRPr>
            </a:pPr>
            <a:r>
              <a:t>- If the user is not authenticated, it redirects to the login page.</a:t>
            </a:r>
          </a:p>
          <a:p>
            <a:pPr algn="l">
              <a:spcAft>
                <a:spcPts val="1000"/>
              </a:spcAft>
              <a:defRPr sz="1800">
                <a:solidFill>
                  <a:srgbClr val="BECDDC"/>
                </a:solidFill>
                <a:latin typeface="Arial"/>
              </a:defRPr>
            </a:pPr>
            <a:r>
              <a:t>- If the user is authenticated, it renders the page normally.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840480"/>
            <a:ext cx="9966960" cy="1645920"/>
          </a:xfrm>
          <a:prstGeom prst="roundRect">
            <a:avLst/>
          </a:prstGeom>
          <a:solidFill>
            <a:srgbClr val="08121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>
                <a:solidFill>
                  <a:srgbClr val="F5FAFF"/>
                </a:solidFill>
                <a:latin typeface="Consolas"/>
              </a:defRPr>
            </a:pPr>
            <a:r>
              <a:t>if (!isAuthenticated) {</a:t>
            </a:r>
            <a:br/>
            <a:r>
              <a:t>  return &lt;Navigate to="/login" replace state={{ from: location.pathname }} /&gt;;</a:t>
            </a:r>
            <a:br/>
            <a:r>
              <a:t>}</a:t>
            </a:r>
            <a:br/>
            <a:br/>
            <a:r>
              <a:t>return children;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BECDDC"/>
                </a:solidFill>
                <a:latin typeface="Arial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0" y="411480"/>
            <a:ext cx="3047695" cy="6446520"/>
          </a:xfrm>
          <a:prstGeom prst="rect">
            <a:avLst/>
          </a:prstGeom>
          <a:solidFill>
            <a:srgbClr val="0A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5FAFF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9875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000">
                <a:solidFill>
                  <a:srgbClr val="BECDDC"/>
                </a:solidFill>
                <a:latin typeface="Arial"/>
              </a:defRPr>
            </a:pPr>
            <a:r>
              <a:t>- TechNova Store connects frontend, backend, and database in one complete project.</a:t>
            </a:r>
          </a:p>
          <a:p>
            <a:pPr algn="l">
              <a:spcAft>
                <a:spcPts val="1000"/>
              </a:spcAft>
              <a:defRPr sz="2000">
                <a:solidFill>
                  <a:srgbClr val="BECDDC"/>
                </a:solidFill>
                <a:latin typeface="Arial"/>
              </a:defRPr>
            </a:pPr>
            <a:r>
              <a:t>- It is organized, clean, and easy to extend.</a:t>
            </a:r>
          </a:p>
          <a:p>
            <a:pPr algn="l">
              <a:spcAft>
                <a:spcPts val="1000"/>
              </a:spcAft>
              <a:defRPr sz="2000">
                <a:solidFill>
                  <a:srgbClr val="BECDDC"/>
                </a:solidFill>
                <a:latin typeface="Arial"/>
              </a:defRPr>
            </a:pPr>
            <a:r>
              <a:t>- It is suitable as a final project because it combines design and functionality.</a:t>
            </a:r>
          </a:p>
          <a:p>
            <a:pPr algn="l">
              <a:spcAft>
                <a:spcPts val="1000"/>
              </a:spcAft>
              <a:defRPr sz="2000">
                <a:solidFill>
                  <a:srgbClr val="BECDDC"/>
                </a:solidFill>
                <a:latin typeface="Arial"/>
              </a:defRPr>
            </a:pPr>
            <a:r>
              <a:t>- Future upgrades can include an admin dashboard, payment gateway, order history, and reviews.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5508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BECDDC"/>
                </a:solidFill>
                <a:latin typeface="Arial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